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Open Sans" panose="020B0606030504020204" pitchFamily="34" charset="0"/>
      <p:regular r:id="rId2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76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Modelo Canvas de Negócios: Transformando Ideias em Realidade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Bem-vindos à nossa apresentação sobre o Modelo Canvas de Negócios, uma ferramenta revolucionária para visualizar, estruturar e comunicar modelos de negócios de forma eficaz.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38468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7541E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918686" y="5971103"/>
            <a:ext cx="112990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VS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5821561"/>
            <a:ext cx="296596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por Valmir  Severiano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83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 que é o Modelo Canvas de Negócios?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66048"/>
            <a:ext cx="3664744" cy="2758559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020604" y="289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Definição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383280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visual criada por Alexander Osterwalder. Organiza os principais elementos de um negócio em um único quadro.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666048"/>
            <a:ext cx="3664863" cy="2758559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912162" y="289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Propósito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383280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 a visualização de componentes essenciais do negócio. Permite identificar conexões entre os elementos.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651421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20604" y="58782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Aplicação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36865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Utilizado por startups e grandes empresas. Ajuda a validar ideias antes de grandes investimentos.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2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075" y="3456623"/>
            <a:ext cx="7697153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Origem e Evolução do Canvas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075" y="4759523"/>
            <a:ext cx="13044249" cy="30480"/>
          </a:xfrm>
          <a:prstGeom prst="roundRect">
            <a:avLst>
              <a:gd name="adj" fmla="val 111525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2302073" y="4759523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062401" y="4504611"/>
            <a:ext cx="509826" cy="50982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147352" y="4547116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19651" y="5665946"/>
            <a:ext cx="259544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2004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19651" y="6155888"/>
            <a:ext cx="2595443" cy="144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Alexander Osterwalder desenvolve o conceito em sua tese de doutorado.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633918" y="4759523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394246" y="4504611"/>
            <a:ext cx="509826" cy="50982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479197" y="4547116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4351496" y="5665946"/>
            <a:ext cx="259544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2010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351496" y="6155888"/>
            <a:ext cx="2595443" cy="144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Publicação do livro "Business Model Generation" populariza o método globalmente.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8965763" y="4759523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726091" y="4504611"/>
            <a:ext cx="509826" cy="50982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811042" y="4547116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683341" y="5665946"/>
            <a:ext cx="259544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2014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683341" y="6155888"/>
            <a:ext cx="2595443" cy="144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Surgimento de variações como o Lean Canvas, adaptado para startups.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2297727" y="4759523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12058055" y="4504611"/>
            <a:ext cx="509826" cy="509826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2143006" y="4547116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11015186" y="5665946"/>
            <a:ext cx="259556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Hoje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015186" y="6155888"/>
            <a:ext cx="2595563" cy="144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Adotado por milhões de empresas e ensinado em escolas de negócios pelo mundo.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7740"/>
            <a:ext cx="58154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Os 9 Blocos do Canvas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276118"/>
            <a:ext cx="4221480" cy="4221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41" y="2276118"/>
            <a:ext cx="4221599" cy="422159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391" y="2276118"/>
            <a:ext cx="4221599" cy="422159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3790" y="68988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Canvas é dividido em 9 blocos fundamentais. Cada bloco representa uma área crítica para o sucesso do negócio.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4042"/>
            <a:ext cx="58727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Segmentos de Clientes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52982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797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Identificação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7021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Defina para quem sua empresa cria valor. Determine os grupos de pessoas que você busca atender.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622834"/>
            <a:ext cx="1134070" cy="20327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Segmentação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340066"/>
            <a:ext cx="61955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Divida seu mercado em grupos com características comuns. Analise necessidades específicas de cada segmento.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655588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88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Priorização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372820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Determine quais segmentos são prioritários. Avalie potencial de receita e alinhamento estratégico.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Proposta de Valor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Diferenciação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30328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torna sua oferta única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28683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Solução de Problemas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39591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você resolve dores dos clientes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Benefícios Tangíveis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40616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 mensuráveis para o cliente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07563"/>
            <a:ext cx="4610338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Canais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438" y="1452563"/>
            <a:ext cx="184309" cy="1106448"/>
          </a:xfrm>
          <a:prstGeom prst="roundRect">
            <a:avLst>
              <a:gd name="adj" fmla="val 15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014055" y="163687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Conhecimento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055" y="2035612"/>
            <a:ext cx="1297090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os clientes descobrem seu produto ou serviço. Inclui marketing, redes sociais e indicações.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22020" y="2743319"/>
            <a:ext cx="184309" cy="1106448"/>
          </a:xfrm>
          <a:prstGeom prst="roundRect">
            <a:avLst>
              <a:gd name="adj" fmla="val 15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90638" y="292762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Avaliação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0638" y="3326368"/>
            <a:ext cx="12694325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os clientes avaliam sua proposta de valor. Envolve demonstrações e materiais informativos.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198602" y="4034076"/>
            <a:ext cx="184309" cy="1106448"/>
          </a:xfrm>
          <a:prstGeom prst="roundRect">
            <a:avLst>
              <a:gd name="adj" fmla="val 15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567220" y="4218384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67220" y="4617125"/>
            <a:ext cx="1241774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os clientes adquirem seus produtos. Abrange e-commerce, lojas físicas e vendas diretas.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475303" y="5324832"/>
            <a:ext cx="184309" cy="1106448"/>
          </a:xfrm>
          <a:prstGeom prst="roundRect">
            <a:avLst>
              <a:gd name="adj" fmla="val 15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843921" y="550914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Entrega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43921" y="5907881"/>
            <a:ext cx="1214104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você entrega o valor prometido. Inclui logística, implementação e acesso.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198602" y="6615589"/>
            <a:ext cx="184309" cy="1106448"/>
          </a:xfrm>
          <a:prstGeom prst="roundRect">
            <a:avLst>
              <a:gd name="adj" fmla="val 15009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567220" y="679989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Pós-venda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67220" y="7198638"/>
            <a:ext cx="1241774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você fornece suporte após a compra. Compreende atendimento e fidelização.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4074"/>
            <a:ext cx="77403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Relacionamento com Clientes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6481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23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Assistência Pessoal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1391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Interação humana direta durante ou após a venda. Atendimento personalizado para resolver dúvidas e problemas.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326481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123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Autoatendimento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61391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para clientes resolverem questões sozinhos. Inclui FAQs, tutoriais e bases de conhecimento.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326481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123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Comunidades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61391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Espaços para interação entre clientes. Permitem troca de conhecimentos e fortalecimento da marca.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00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Fontes de Receita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456" y="6217087"/>
            <a:ext cx="382667" cy="4783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631" y="4628912"/>
            <a:ext cx="382667" cy="47839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6745" y="4628912"/>
            <a:ext cx="382667" cy="478393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4920" y="6217087"/>
            <a:ext cx="382667" cy="478393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878919" y="3083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Venda de Produtos</a:t>
            </a:r>
            <a:endParaRPr lang="en-US" sz="2200" dirty="0"/>
          </a:p>
        </p:txBody>
      </p:sp>
      <p:sp>
        <p:nvSpPr>
          <p:cNvPr id="12" name="Text 2"/>
          <p:cNvSpPr/>
          <p:nvPr/>
        </p:nvSpPr>
        <p:spPr>
          <a:xfrm>
            <a:off x="793790" y="3573542"/>
            <a:ext cx="30054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Transferência de propriedade física ou digital mediante pagamento.</a:t>
            </a:r>
            <a:endParaRPr lang="en-US" sz="1750" dirty="0"/>
          </a:p>
        </p:txBody>
      </p:sp>
      <p:sp>
        <p:nvSpPr>
          <p:cNvPr id="13" name="Text 3"/>
          <p:cNvSpPr/>
          <p:nvPr/>
        </p:nvSpPr>
        <p:spPr>
          <a:xfrm>
            <a:off x="4224576" y="1812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Assinaturas</a:t>
            </a:r>
            <a:endParaRPr lang="en-US" sz="2200" dirty="0"/>
          </a:p>
        </p:txBody>
      </p:sp>
      <p:sp>
        <p:nvSpPr>
          <p:cNvPr id="14" name="Text 4"/>
          <p:cNvSpPr/>
          <p:nvPr/>
        </p:nvSpPr>
        <p:spPr>
          <a:xfrm>
            <a:off x="4139446" y="2302907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Pagamentos recorrentes por acesso contínuo a serviço ou produto.</a:t>
            </a:r>
            <a:endParaRPr lang="en-US" sz="1750" dirty="0"/>
          </a:p>
        </p:txBody>
      </p:sp>
      <p:sp>
        <p:nvSpPr>
          <p:cNvPr id="15" name="Text 5"/>
          <p:cNvSpPr/>
          <p:nvPr/>
        </p:nvSpPr>
        <p:spPr>
          <a:xfrm>
            <a:off x="7570351" y="1812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Licenciamento</a:t>
            </a:r>
            <a:endParaRPr lang="en-US" sz="2200" dirty="0"/>
          </a:p>
        </p:txBody>
      </p:sp>
      <p:sp>
        <p:nvSpPr>
          <p:cNvPr id="16" name="Text 6"/>
          <p:cNvSpPr/>
          <p:nvPr/>
        </p:nvSpPr>
        <p:spPr>
          <a:xfrm>
            <a:off x="7485221" y="2302907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Permissão para uso de propriedade intelectual mediante taxas.</a:t>
            </a:r>
            <a:endParaRPr lang="en-US" sz="1750" dirty="0"/>
          </a:p>
        </p:txBody>
      </p:sp>
      <p:sp>
        <p:nvSpPr>
          <p:cNvPr id="17" name="Text 7"/>
          <p:cNvSpPr/>
          <p:nvPr/>
        </p:nvSpPr>
        <p:spPr>
          <a:xfrm>
            <a:off x="10916126" y="34460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Comissões</a:t>
            </a:r>
            <a:endParaRPr lang="en-US" sz="2200" dirty="0"/>
          </a:p>
        </p:txBody>
      </p:sp>
      <p:sp>
        <p:nvSpPr>
          <p:cNvPr id="18" name="Text 8"/>
          <p:cNvSpPr/>
          <p:nvPr/>
        </p:nvSpPr>
        <p:spPr>
          <a:xfrm>
            <a:off x="10830997" y="3936444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Taxas por intermediação entre partes.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3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53" y="3509367"/>
            <a:ext cx="5468064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Recursos-Chave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5453" y="4520922"/>
            <a:ext cx="492085" cy="492085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27" y="4561880"/>
            <a:ext cx="328017" cy="4100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76256" y="4596051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Físicos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1476256" y="5068967"/>
            <a:ext cx="5702260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Instalações, máquinas, sistemas e redes de distribuição essenciais para o funcionamento do negócio.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451884" y="4520922"/>
            <a:ext cx="492085" cy="492085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858" y="4561880"/>
            <a:ext cx="328017" cy="4100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62687" y="4596051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Intelectuais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8162687" y="5068967"/>
            <a:ext cx="5702260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Marcas, patentes, direitos autorais e parcerias exclusivas que diferenciam a empresa.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765453" y="6206252"/>
            <a:ext cx="492085" cy="492085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27" y="6247209"/>
            <a:ext cx="328017" cy="4100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76256" y="6281380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Humanos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476256" y="6754297"/>
            <a:ext cx="5702260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Equipe, conhecimentos específicos e talentos necessários para entregar a proposta de valor.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7451884" y="6206252"/>
            <a:ext cx="492085" cy="492085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858" y="6247209"/>
            <a:ext cx="328017" cy="41005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62687" y="6281380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Financeiros</a:t>
            </a:r>
            <a:endParaRPr lang="en-US" sz="2150" dirty="0"/>
          </a:p>
        </p:txBody>
      </p:sp>
      <p:sp>
        <p:nvSpPr>
          <p:cNvPr id="19" name="Text 12"/>
          <p:cNvSpPr/>
          <p:nvPr/>
        </p:nvSpPr>
        <p:spPr>
          <a:xfrm>
            <a:off x="8162687" y="6754297"/>
            <a:ext cx="5702260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Capital, linhas de crédito e garantias financeiras para sustentar operações e crescimento.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34102"/>
            <a:ext cx="3946684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Atividades-Chave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243013"/>
            <a:ext cx="13525500" cy="7574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8994815"/>
            <a:ext cx="1352550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atividades-chave são processos essenciais para o funcionamento do seu modelo de negócios. Elas sustentam a entrega da proposta de valor.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Parcerias-Chave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3076337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Alianças Estratégicas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35306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Parcerias entre não-concorrentes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496633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Coopetição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30563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Parcerias entre concorrentes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53545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Relacionamento Comprador-Fornecedor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53545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Garantia de suprimentos confiáveis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06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Estrutura de Custos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982986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94316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Custos Fixos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505200"/>
            <a:ext cx="36364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Permanecem constantes independente do volume produzido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13684" y="1982986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35%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114330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Custos Variáveis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13684" y="3505200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Mudam proporcionalmente ao volume de produção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753678" y="5160883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3154323" y="61926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Custos Semivariáveis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53678" y="6683097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Combinam elementos fixos e variáveis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9096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Preenchendo o Canvas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Ideação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Brainstorming inicial de todos os elementos possíveis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Validação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 das hipóteses com clientes reais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Refinamento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Ajustes baseados nos feedbacks recebidos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Implementação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Execução do modelo validado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503"/>
            <a:ext cx="90348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Canvas para Diferentes Segmentos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9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Startups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10401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Focado em validação rápida. Prioriza encontrar produto-mercado antes de escalar. Permite pivotagem ágil quando necessário.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608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 Definir MVP (Produto Mínimo Viável) e testar hipóteses com clientes reais.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2629257"/>
            <a:ext cx="31231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Empresas Estabelecidas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3210401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Centrado em otimização e expansão. Busca eficiência operacional e novos mercados. Equilibra inovação com manutenção do core business.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86608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 Analisar linhas de negócio existentes e identificar oportunidades de crescimento.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2629257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Organizações Sem Fins Lucrativos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3564731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 "receitas" para "fontes de recursos". Foca no impacto social como métrica. Equilibra sustentabilidade financeira com missão.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5583317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Exemplo: Mapear doadores e beneficiários como segmentos distintos.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9113" y="762953"/>
            <a:ext cx="7638574" cy="134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Integrando com Outras Ferramentas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13" y="2429708"/>
            <a:ext cx="537686" cy="5376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9113" y="3236238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Mapa de Empatia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6239113" y="3701177"/>
            <a:ext cx="3684865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Aprofunda compreensão dos clientes. Examina o que pensam, sentem, veem e fazem.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822" y="2429708"/>
            <a:ext cx="537686" cy="5376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92822" y="3236238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Análise SWOT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0192822" y="3701177"/>
            <a:ext cx="3684865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Complementa com análise de forças, fraquezas, oportunidades e ameaças.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9113" y="5163145"/>
            <a:ext cx="537686" cy="5376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39113" y="5969675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Jornada do Cliente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6239113" y="6434614"/>
            <a:ext cx="3684865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Mapeia experiências e pontos de contato. Identifica oportunidades para melhorar relacionamento.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2822" y="5163145"/>
            <a:ext cx="537686" cy="53768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92822" y="5969675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Lean Canvas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10192822" y="6434614"/>
            <a:ext cx="3684865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Variação focada em startups. Adiciona problema, solução, métricas-chave e vantagem injusta.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867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Canvas na Era Digital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735693"/>
            <a:ext cx="7556421" cy="5807154"/>
          </a:xfrm>
          <a:prstGeom prst="roundRect">
            <a:avLst>
              <a:gd name="adj" fmla="val 5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6287810" y="1743313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515457" y="1887022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Bloco Canvas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032438" y="1887022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Adaptação Digital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545610" y="1887022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7810" y="2393633"/>
            <a:ext cx="7540347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15457" y="2537341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Segmentos de Clientes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032438" y="2537341"/>
            <a:ext cx="20519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Micro-segmentação via dados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545610" y="2537341"/>
            <a:ext cx="205573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Personalização por comportamento online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7810" y="3769757"/>
            <a:ext cx="7540347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515457" y="3913465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Canais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032438" y="3913465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Omnicanalidade integrada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545610" y="3913465"/>
            <a:ext cx="205573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Experiência contínua entre app, site e loja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87810" y="5145881"/>
            <a:ext cx="7540347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515457" y="5289590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Receitas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9032438" y="5289590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baseados em dados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11545610" y="5289590"/>
            <a:ext cx="205573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Monetização via insights de usuários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6287810" y="6522006"/>
            <a:ext cx="754034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515457" y="6665714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Parcerias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9032438" y="6665714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Ecossistemas digitais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11545610" y="6665714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APIs abertas para desenvolvedores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26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Casos de Sucesso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5030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42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Netflix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3246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Revolucionou entretenimento com assinatura. Passou de aluguel de DVDs para streaming global. Investiu em produção própria como recurso-chave.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145030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942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Spotify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432465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Transformou consumo musical com freemium. Equilibra receitas de anúncios e assinaturas premium. Cria valor através de algoritmos de recomendação.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145030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942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Airbnb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432465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Criou marketplace bilateral inovador. Conecta anfitriões e hóspedes sem ativos próprios. Gerencia confiança como recurso-chave através de avaliações.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7562" y="669250"/>
            <a:ext cx="7699772" cy="643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Implementando na Sua Empresa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07562" y="1622108"/>
            <a:ext cx="463510" cy="46351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774" y="1660684"/>
            <a:ext cx="308967" cy="3862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77050" y="1692831"/>
            <a:ext cx="3663434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Forme Equipe Multidisciplinar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877050" y="2138243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Reúna representantes de diferentes áreas. Inclua pessoas com visões complementares do negócio.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207562" y="3209687"/>
            <a:ext cx="463510" cy="46351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774" y="3248263"/>
            <a:ext cx="308967" cy="3862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77050" y="3280410"/>
            <a:ext cx="3033832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Prepare Materiais Visuais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877050" y="3725823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quadro grande ou ferramenta digital. Tenha post-its coloridos para cada bloco.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207562" y="4797266"/>
            <a:ext cx="463510" cy="46351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774" y="4835843"/>
            <a:ext cx="308967" cy="3862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77050" y="4867989"/>
            <a:ext cx="3729395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Facilite Workshop Colaborativo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877050" y="5313402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Comece pelos clientes e proposta de valor. Permita contribuições livres antes de filtrar.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207562" y="6384846"/>
            <a:ext cx="463510" cy="463510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774" y="6423422"/>
            <a:ext cx="308967" cy="38623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77050" y="6455569"/>
            <a:ext cx="2575560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Itere e Refine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6877050" y="6900982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Revise periodicamente o modelo. Atualize conforme novas informações surgem.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2109"/>
            <a:ext cx="79688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Conclusão: O Poder do Canvas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36200"/>
            <a:ext cx="6244709" cy="34061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8512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Modelo Canvas de Negócios revolucionou a forma como visualizamos empresas. Sua simplicidade visual esconde uma poderosa ferramenta estratégica.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599521" y="417790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o Canvas não é apenas desenhar um quadro. É iniciar uma jornada de descoberta e inovação contínua.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510778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Comece hoje mesmo. Visualize seu negócio através desta perspectiva. Conecte os blocos. Crie valor real.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Personalizar</PresentationFormat>
  <Paragraphs>179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Playfair Display Bold</vt:lpstr>
      <vt:lpstr>Open Sans</vt:lpstr>
      <vt:lpstr>Open Sans Medium</vt:lpstr>
      <vt:lpstr>Open Sans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Valmir De Lima Severiano</dc:creator>
  <cp:lastModifiedBy>Valmir De Lima Severiano</cp:lastModifiedBy>
  <cp:revision>1</cp:revision>
  <dcterms:created xsi:type="dcterms:W3CDTF">2025-08-22T13:19:11Z</dcterms:created>
  <dcterms:modified xsi:type="dcterms:W3CDTF">2025-08-22T13:25:08Z</dcterms:modified>
</cp:coreProperties>
</file>