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embeddedFontLst>
    <p:embeddedFont>
      <p:font typeface="DM Sans SemiBold" panose="020B0604020202020204" charset="0"/>
      <p:regular r:id="rId25"/>
    </p:embeddedFont>
    <p:embeddedFont>
      <p:font typeface="Inter Bold" panose="020B0604020202020204" charset="0"/>
      <p:regular r:id="rId26"/>
    </p:embeddedFont>
    <p:embeddedFont>
      <p:font typeface="Inter Medium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434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ults.com.br/blog/5w2h/" TargetMode="External"/><Relationship Id="rId3" Type="http://schemas.openxmlformats.org/officeDocument/2006/relationships/hyperlink" Target="https://www.canalsonhogrande.com.br/post/matriz-gut-exemplo-excel" TargetMode="External"/><Relationship Id="rId7" Type="http://schemas.openxmlformats.org/officeDocument/2006/relationships/hyperlink" Target="https://www.siteware.com.br/blog/metodologias/o-que-e-5w2h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uiker.com.br/balanced-scorecard-bsc-guia-completo-exemplo-aplicacao/" TargetMode="External"/><Relationship Id="rId5" Type="http://schemas.openxmlformats.org/officeDocument/2006/relationships/hyperlink" Target="https://mereo.com/hub/diagrama-de-ishikawa/" TargetMode="External"/><Relationship Id="rId4" Type="http://schemas.openxmlformats.org/officeDocument/2006/relationships/hyperlink" Target="https://checklistfacil.com/blog/diagrama-de-paret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Ferramentas de Gestão Estratégica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SWOT · Matriz GUT · Diagrama de Pareto · Diagrama de Ishikawa · BSC · 5W2H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59582"/>
            <a:ext cx="817587" cy="215354"/>
          </a:xfrm>
          <a:prstGeom prst="roundRect">
            <a:avLst>
              <a:gd name="adj" fmla="val 7900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81174" y="1702073"/>
            <a:ext cx="110467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CAPÍTULO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31640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Análise SWOT</a:t>
            </a:r>
            <a:endParaRPr lang="en-US" sz="5550" dirty="0"/>
          </a:p>
        </p:txBody>
      </p:sp>
      <p:sp>
        <p:nvSpPr>
          <p:cNvPr id="6" name="Text 3"/>
          <p:cNvSpPr/>
          <p:nvPr/>
        </p:nvSpPr>
        <p:spPr>
          <a:xfrm>
            <a:off x="496119" y="303028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Avaliação estratégica dos ambientes interno e externo da organização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00435"/>
            <a:ext cx="5192688" cy="29424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6136" y="515615"/>
            <a:ext cx="265643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 que é a Análise SWOT?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2645" y="1416546"/>
            <a:ext cx="186035" cy="1860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99163" y="1412751"/>
            <a:ext cx="22534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399163" y="1715095"/>
            <a:ext cx="225340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Ferramenta de planejamento estratégico que avalia os ambientes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interno e externo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 uma organização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2645" y="2680097"/>
            <a:ext cx="186035" cy="186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99163" y="2676302"/>
            <a:ext cx="22534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Sigla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399163" y="2978646"/>
            <a:ext cx="225340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trengths (Forças) ·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eaknesses (Fraquezas) ·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pportunities (Oportunidades) ·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hreats (Ameaças)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2645" y="3757613"/>
            <a:ext cx="186035" cy="186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99163" y="3753817"/>
            <a:ext cx="22534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Origem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99163" y="4056162"/>
            <a:ext cx="225340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Desenvolvida na década de 1960 por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Albert Humphrey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na Universidade de Stanford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1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 4 Dimensões da SWOT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82663"/>
            <a:ext cx="4004965" cy="1681460"/>
          </a:xfrm>
          <a:prstGeom prst="roundRect">
            <a:avLst>
              <a:gd name="adj" fmla="val 1265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37877" y="132442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Forças (S)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1630933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Ambiente interno — favorável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7877" y="1942802"/>
            <a:ext cx="37214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Marca forte e reconhecida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Equipe qualificada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Tecnologia proprietária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182663"/>
            <a:ext cx="4005039" cy="1681460"/>
          </a:xfrm>
          <a:prstGeom prst="roundRect">
            <a:avLst>
              <a:gd name="adj" fmla="val 126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84601" y="1324421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Fraquezas (W)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4601" y="1630933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Ambiente interno — desfavorável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84601" y="1942802"/>
            <a:ext cx="37215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Alto custo operacional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Processos lentos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Falta de inovação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05882"/>
            <a:ext cx="4004965" cy="1681460"/>
          </a:xfrm>
          <a:prstGeom prst="roundRect">
            <a:avLst>
              <a:gd name="adj" fmla="val 1265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7877" y="3147640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Oportunidades (O)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877" y="345415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Ambiente externo — favorável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7877" y="3766021"/>
            <a:ext cx="37214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Tendências de mercado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Novos segmentos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Parcerias estratégicas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5039" cy="1681460"/>
          </a:xfrm>
          <a:prstGeom prst="roundRect">
            <a:avLst>
              <a:gd name="adj" fmla="val 1265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84601" y="3147640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Ameaças (T)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3454152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Ambiente externo — desfavorável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4601" y="3766021"/>
            <a:ext cx="37215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Concorrência crescente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Mudanças regulatórias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Instabilidade econômica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Aplicação Prática da SWOT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09505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Quando usar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51621"/>
            <a:ext cx="3986733" cy="253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6818" y="2334220"/>
            <a:ext cx="378343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Antes de lançamentos de produtos e expansões de mercado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43026"/>
            <a:ext cx="3986733" cy="253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818" y="2625626"/>
            <a:ext cx="378343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 revisões estratégicas anuais e planejamentos de ciclo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34432"/>
            <a:ext cx="3986733" cy="253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6818" y="2917031"/>
            <a:ext cx="378343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 combinar fatores </a:t>
            </a:r>
            <a:r>
              <a:rPr lang="en-US" sz="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internos</a:t>
            </a: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(controláveis) com </a:t>
            </a:r>
            <a:r>
              <a:rPr lang="en-US" sz="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externos</a:t>
            </a: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(não controláveis) em uma única visão</a:t>
            </a:r>
            <a:endParaRPr lang="en-US" sz="550" dirty="0"/>
          </a:p>
        </p:txBody>
      </p:sp>
      <p:sp>
        <p:nvSpPr>
          <p:cNvPr id="10" name="Shape 5"/>
          <p:cNvSpPr/>
          <p:nvPr/>
        </p:nvSpPr>
        <p:spPr>
          <a:xfrm>
            <a:off x="496119" y="3130525"/>
            <a:ext cx="3986733" cy="198090"/>
          </a:xfrm>
          <a:prstGeom prst="roundRect">
            <a:avLst>
              <a:gd name="adj" fmla="val 5535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93" y="3224510"/>
            <a:ext cx="91306" cy="730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3574" y="3182615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Resultado: matriz 2×2 que orienta decisões e prioriza ações estratégicas</a:t>
            </a:r>
            <a:endParaRPr lang="en-US" sz="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59582"/>
            <a:ext cx="840432" cy="215354"/>
          </a:xfrm>
          <a:prstGeom prst="roundRect">
            <a:avLst>
              <a:gd name="adj" fmla="val 7900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81174" y="1702073"/>
            <a:ext cx="11275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CAPÍTULO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31640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Matriz GUT</a:t>
            </a:r>
            <a:endParaRPr lang="en-US" sz="5550" dirty="0"/>
          </a:p>
        </p:txBody>
      </p:sp>
      <p:sp>
        <p:nvSpPr>
          <p:cNvPr id="6" name="Text 3"/>
          <p:cNvSpPr/>
          <p:nvPr/>
        </p:nvSpPr>
        <p:spPr>
          <a:xfrm>
            <a:off x="496119" y="303028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Priorização objetiva de problemas com base em Gravidade, Urgência e Tendência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5730"/>
            <a:ext cx="2628230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 que é a Matriz GUT?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33463"/>
            <a:ext cx="2628230" cy="194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Matriz GUT é uma ferramenta de gestão que auxilia na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priorização de problemas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levando em consideração três critérios objetivos e mensuráveis.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Origem: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Criada em 1981 por Charles H. Kepner e Benjamin B. Tregoe, renomados consultores em resolução de problemas.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616595"/>
            <a:ext cx="5177582" cy="29339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3869457"/>
            <a:ext cx="8151763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96119" y="3869457"/>
            <a:ext cx="2717229" cy="816843"/>
          </a:xfrm>
          <a:custGeom>
            <a:avLst/>
            <a:gdLst/>
            <a:ahLst/>
            <a:cxnLst/>
            <a:rect l="l" t="t" r="r" b="b"/>
            <a:pathLst>
              <a:path w="2717229" h="816843">
                <a:moveTo>
                  <a:pt x="17721" y="0"/>
                </a:moveTo>
                <a:lnTo>
                  <a:pt x="2717229" y="0"/>
                </a:lnTo>
                <a:lnTo>
                  <a:pt x="2717229" y="816843"/>
                </a:lnTo>
                <a:lnTo>
                  <a:pt x="17721" y="816843"/>
                </a:lnTo>
                <a:arcTo wR="17721" hR="17721" stAng="5400000" swAng="5400000"/>
                <a:lnTo>
                  <a:pt x="0" y="17721"/>
                </a:lnTo>
                <a:arcTo wR="17721" hR="17721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37877" y="4011216"/>
            <a:ext cx="22211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Gravidade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4317727"/>
            <a:ext cx="22211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Impacto do problema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13348" y="3869457"/>
            <a:ext cx="2717229" cy="816843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213348" y="3869457"/>
            <a:ext cx="19050" cy="816843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567708" y="4011216"/>
            <a:ext cx="20085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Urgência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67708" y="4317727"/>
            <a:ext cx="20085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Tempo para resolver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36168" y="4100661"/>
            <a:ext cx="354360" cy="354360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721" y="4189214"/>
            <a:ext cx="177180" cy="1771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30578" y="3869457"/>
            <a:ext cx="2717229" cy="816843"/>
          </a:xfrm>
          <a:custGeom>
            <a:avLst/>
            <a:gdLst/>
            <a:ahLst/>
            <a:cxnLst/>
            <a:rect l="l" t="t" r="r" b="b"/>
            <a:pathLst>
              <a:path w="2717229" h="816843">
                <a:moveTo>
                  <a:pt x="0" y="0"/>
                </a:moveTo>
                <a:lnTo>
                  <a:pt x="2699509" y="0"/>
                </a:lnTo>
                <a:arcTo wR="17721" hR="17721" stAng="16200000" swAng="5400000"/>
                <a:lnTo>
                  <a:pt x="2717229" y="799122"/>
                </a:lnTo>
                <a:arcTo wR="17721" hR="17721" stAng="0" swAng="5400000"/>
                <a:lnTo>
                  <a:pt x="0" y="816843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5930578" y="3869457"/>
            <a:ext cx="19050" cy="816843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6284937" y="4011216"/>
            <a:ext cx="22211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Tendência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284937" y="4317727"/>
            <a:ext cx="22211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Evolução do problema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53398" y="4100661"/>
            <a:ext cx="354360" cy="354360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1950" y="4189214"/>
            <a:ext cx="177180" cy="177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813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Como Funciona a Matriz GUT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463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Atribua pontuações de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a 5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cada critério e multiplique: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 × U × T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Quanto maior o resultado, maior a prioridade de resolução.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97732"/>
            <a:ext cx="8151763" cy="2287637"/>
          </a:xfrm>
          <a:prstGeom prst="roundRect">
            <a:avLst>
              <a:gd name="adj" fmla="val 93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96119" y="251132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96119" y="314935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96119" y="3560564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96119" y="397177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1179" y="2102495"/>
            <a:ext cx="2442642" cy="408831"/>
          </a:xfrm>
          <a:custGeom>
            <a:avLst/>
            <a:gdLst/>
            <a:ahLst/>
            <a:cxnLst/>
            <a:rect l="l" t="t" r="r" b="b"/>
            <a:pathLst>
              <a:path w="2442642" h="408831">
                <a:moveTo>
                  <a:pt x="17721" y="0"/>
                </a:moveTo>
                <a:lnTo>
                  <a:pt x="2442642" y="0"/>
                </a:lnTo>
                <a:lnTo>
                  <a:pt x="2442642" y="408831"/>
                </a:lnTo>
                <a:lnTo>
                  <a:pt x="0" y="408831"/>
                </a:lnTo>
                <a:lnTo>
                  <a:pt x="0" y="17721"/>
                </a:lnTo>
                <a:arcTo wR="17721" hR="17721" stAng="10800000" swAng="5400000"/>
                <a:close/>
              </a:path>
            </a:pathLst>
          </a:cu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2938" y="2192313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43820" y="2102495"/>
            <a:ext cx="814164" cy="40883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085579" y="2192313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57985" y="2102495"/>
            <a:ext cx="814164" cy="40883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899743" y="2192313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149" y="2102495"/>
            <a:ext cx="814164" cy="40883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13908" y="2192313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86313" y="2102495"/>
            <a:ext cx="1628403" cy="40883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528072" y="2192313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GUT (G×U×T)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4716" y="2102495"/>
            <a:ext cx="1628403" cy="408831"/>
          </a:xfrm>
          <a:custGeom>
            <a:avLst/>
            <a:gdLst/>
            <a:ahLst/>
            <a:cxnLst/>
            <a:rect l="l" t="t" r="r" b="b"/>
            <a:pathLst>
              <a:path w="1628403" h="408831">
                <a:moveTo>
                  <a:pt x="0" y="0"/>
                </a:moveTo>
                <a:lnTo>
                  <a:pt x="1610682" y="0"/>
                </a:lnTo>
                <a:arcTo wR="17721" hR="17721" stAng="16200000" swAng="5400000"/>
                <a:lnTo>
                  <a:pt x="1628403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156475" y="2192313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Prioridade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938" y="2603525"/>
            <a:ext cx="21591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Alta rotatividade de funcionários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85579" y="2603525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99743" y="2603525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3908" y="2603525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28072" y="2603525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56475" y="2603525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2938" y="3241551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Atraso nas entregas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85579" y="3241551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99743" y="3241551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3908" y="3241551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8072" y="3241551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56475" y="3241551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2938" y="3652763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Falha no sistema de TI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85579" y="3652763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99743" y="3652763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13908" y="3652763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28072" y="3652763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56475" y="3652763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3ª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2938" y="4063975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Baixa satisfação do cliente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85579" y="4063975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99743" y="4063975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13908" y="4063975"/>
            <a:ext cx="987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28072" y="4063975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56475" y="4063975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4ª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216521"/>
            <a:ext cx="841623" cy="215354"/>
          </a:xfrm>
          <a:prstGeom prst="roundRect">
            <a:avLst>
              <a:gd name="adj" fmla="val 7900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010174" y="1259012"/>
            <a:ext cx="11287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CAPÍTULO 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488579"/>
            <a:ext cx="4722763" cy="1772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Diagrama de Pareto</a:t>
            </a:r>
            <a:endParaRPr lang="en-US" sz="5550" dirty="0"/>
          </a:p>
        </p:txBody>
      </p:sp>
      <p:sp>
        <p:nvSpPr>
          <p:cNvPr id="6" name="Text 3"/>
          <p:cNvSpPr/>
          <p:nvPr/>
        </p:nvSpPr>
        <p:spPr>
          <a:xfrm>
            <a:off x="3925119" y="347327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Identifique os poucos fatores vitais que causam a maioria dos problemas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3346"/>
            <a:ext cx="2642369" cy="124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 que é o Diagrama de Pareto?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2183829"/>
            <a:ext cx="2642369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Gráfico de barras decrescentes que representa a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frequência ou impacto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 problemas, defeitos ou causas em um processo — destacando os itens mais relevantes para priorização.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398" y="538163"/>
            <a:ext cx="5185172" cy="29382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3756645"/>
            <a:ext cx="4013597" cy="988740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3310" y="3903836"/>
            <a:ext cx="371921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Princípio 80/20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3310" y="4186238"/>
            <a:ext cx="37192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80%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dos problemas são causados por apenas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das causas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34285" y="3756645"/>
            <a:ext cx="4013597" cy="988740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781476" y="3903836"/>
            <a:ext cx="371921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Origem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81476" y="4186238"/>
            <a:ext cx="37192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Criado por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Joseph Juran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em homenagem ao economista Vilfredo Pareto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Aplicação do Diagrama de Pareto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Exemplo: causas de reclamações de clientes. As duas primeiras categorias (</a:t>
            </a:r>
            <a:r>
              <a:rPr lang="en-US" sz="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Atraso na entrega</a:t>
            </a: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 </a:t>
            </a:r>
            <a:r>
              <a:rPr lang="en-US" sz="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Produto com defeito</a:t>
            </a: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 representam </a:t>
            </a:r>
            <a:r>
              <a:rPr lang="en-US" sz="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75% das ocorrências</a:t>
            </a: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confirmando o princípio 80/20.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07021"/>
            <a:ext cx="8151763" cy="45649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329928"/>
            <a:ext cx="844972" cy="215354"/>
          </a:xfrm>
          <a:prstGeom prst="roundRect">
            <a:avLst>
              <a:gd name="adj" fmla="val 7900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81174" y="1372419"/>
            <a:ext cx="11320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CAPÍTULO 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601986"/>
            <a:ext cx="4722763" cy="1772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Diagrama de Ishikawa</a:t>
            </a:r>
            <a:endParaRPr lang="en-US" sz="5550" dirty="0"/>
          </a:p>
        </p:txBody>
      </p:sp>
      <p:sp>
        <p:nvSpPr>
          <p:cNvPr id="6" name="Text 3"/>
          <p:cNvSpPr/>
          <p:nvPr/>
        </p:nvSpPr>
        <p:spPr>
          <a:xfrm>
            <a:off x="496119" y="358668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Investigando causas-raiz com a espinha de peixe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523577"/>
            <a:ext cx="5190753" cy="2941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9708" y="1065386"/>
            <a:ext cx="2652861" cy="118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 que é o Diagrama de Ishikawa?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999708" y="2361456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Ferramenta visual para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identificar, organizar e priorizar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as possíveis causas de um problema específico.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446" y="3721857"/>
            <a:ext cx="189384" cy="1893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6363" y="3717950"/>
            <a:ext cx="221329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Outros nomes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06363" y="3982641"/>
            <a:ext cx="221329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Diagrama Espinha de Peixe ou Diagrama de Causa e Efeito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7482" y="3721857"/>
            <a:ext cx="189384" cy="1893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70399" y="3717950"/>
            <a:ext cx="22133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Origem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670399" y="3982641"/>
            <a:ext cx="2213372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Criado por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Kaoru Ishikawa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nos anos 1960 como parte das 7 ferramentas da qualidade no controle de qualidade japonês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1592" y="3721857"/>
            <a:ext cx="189384" cy="1893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34510" y="3717950"/>
            <a:ext cx="22133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434510" y="3982641"/>
            <a:ext cx="221337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Espinha central aponta para o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; ramificações representam categorias de causas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Os 6Ms do Diagrama de Ishikawa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33" y="682154"/>
            <a:ext cx="8104733" cy="4025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9822" y="1817091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Material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99822" y="3333410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Mão de Obra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0028" y="3333410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Máquina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792" y="1813143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Método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74791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Cada uma das 6 categorias recebe subcausas específicas, revelando a origem profunda do problema e orientando ações corretivas precisas.</a:t>
            </a:r>
            <a:endParaRPr lang="en-US" sz="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59582"/>
            <a:ext cx="838870" cy="215354"/>
          </a:xfrm>
          <a:prstGeom prst="roundRect">
            <a:avLst>
              <a:gd name="adj" fmla="val 7900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81174" y="1702073"/>
            <a:ext cx="11259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CAPÍTULO 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31640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BSC</a:t>
            </a:r>
            <a:endParaRPr lang="en-US" sz="5550" dirty="0"/>
          </a:p>
        </p:txBody>
      </p:sp>
      <p:sp>
        <p:nvSpPr>
          <p:cNvPr id="6" name="Text 3"/>
          <p:cNvSpPr/>
          <p:nvPr/>
        </p:nvSpPr>
        <p:spPr>
          <a:xfrm>
            <a:off x="496119" y="303028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Balanced Scorecard — traduzindo estratégia em resultados mensuráveis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9488"/>
            <a:ext cx="2659931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 que é o BSC?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864816"/>
            <a:ext cx="265993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Balanced Scorecard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é uma metodologia de gestão estratégica que permite traduzir a visão e a estratégia de uma organização em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objetivos e indicadores mensuráveis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021" y="507578"/>
            <a:ext cx="5194622" cy="294359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686621"/>
            <a:ext cx="2647504" cy="10689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9372" y="3822725"/>
            <a:ext cx="231814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Origem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89372" y="4075881"/>
            <a:ext cx="231814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Criado por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Robert Kaplan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David Norton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no início dos anos 1990 na Harvard Business School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8248" y="3686621"/>
            <a:ext cx="2647504" cy="10689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41502" y="3822725"/>
            <a:ext cx="231814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Diferencial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3441502" y="4075881"/>
            <a:ext cx="231814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Equilibra métricas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financeiras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com perspectivas </a:t>
            </a:r>
            <a:r>
              <a:rPr lang="en-US" sz="9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não financeiras</a:t>
            </a: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clientes, processos e aprendizado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0378" y="3686621"/>
            <a:ext cx="2647504" cy="10689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93631" y="3822725"/>
            <a:ext cx="231814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Aplicação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193631" y="4075881"/>
            <a:ext cx="231814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Monitoramento contínuo da execução estratégica com indicadores balanceados em 4 perspectivas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210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 4 Perspectivas do BSC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06202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315724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Processos Internos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605245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Eficiência, qualidade e inovação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541932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Clientes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831453"/>
            <a:ext cx="1827290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Satisfação, retenção e NPS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246826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Financeira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536347"/>
            <a:ext cx="1987578" cy="14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Receita, lucro e ROI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592985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 perspectivas são interligadas por relações de causa e efeito: o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aprendizado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melhora os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processos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que geram melhor experiência para os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clientes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resultando em desempenho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financeiro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superior.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772989"/>
            <a:ext cx="841921" cy="215354"/>
          </a:xfrm>
          <a:prstGeom prst="roundRect">
            <a:avLst>
              <a:gd name="adj" fmla="val 7900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010174" y="1815480"/>
            <a:ext cx="112901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CAPÍTULO 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2045047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5W2H</a:t>
            </a:r>
            <a:endParaRPr lang="en-US" sz="5550" dirty="0"/>
          </a:p>
        </p:txBody>
      </p:sp>
      <p:sp>
        <p:nvSpPr>
          <p:cNvPr id="6" name="Text 3"/>
          <p:cNvSpPr/>
          <p:nvPr/>
        </p:nvSpPr>
        <p:spPr>
          <a:xfrm>
            <a:off x="3925119" y="314369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Estruture planos de ação respondendo 7 perguntas fundamentais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2099"/>
            <a:ext cx="2649364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 que é o 5W2H?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949946"/>
            <a:ext cx="26493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Ferramenta de planejamento que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 ideias e transforma estratégias em ações concretas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respondendo 7 perguntas fundamentais de forma estruturada.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677" y="606921"/>
            <a:ext cx="5188893" cy="294032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264" y="3813125"/>
            <a:ext cx="192658" cy="1926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581" y="3809181"/>
            <a:ext cx="358564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Origem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13581" y="4079677"/>
            <a:ext cx="358564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Desenvolvida no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Toyota de Produção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nas décadas de 1950–1960 por Taiichi Ohno e Eiji Toyoda — parte do mesmo ecossistema do PDCA, Kaizen e Ishikawa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848" y="3813125"/>
            <a:ext cx="192658" cy="1926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62165" y="3809181"/>
            <a:ext cx="358571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Aplicação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062165" y="4079677"/>
            <a:ext cx="35857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Gestão de projetos, planos de melhoria, ações corretivas e preventivas em qualquer área da organização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680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 7 Perguntas do 5W2H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51483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Exemplo prático: implantação de programa de treinamento para reduzir erros operacionais.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527423"/>
            <a:ext cx="8151763" cy="3175397"/>
          </a:xfrm>
          <a:prstGeom prst="roundRect">
            <a:avLst>
              <a:gd name="adj" fmla="val 65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0881" y="1532186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01030" y="1532186"/>
            <a:ext cx="1221284" cy="395734"/>
          </a:xfrm>
          <a:custGeom>
            <a:avLst/>
            <a:gdLst/>
            <a:ahLst/>
            <a:cxnLst/>
            <a:rect l="l" t="t" r="r" b="b"/>
            <a:pathLst>
              <a:path w="1221284" h="395734">
                <a:moveTo>
                  <a:pt x="17444" y="0"/>
                </a:moveTo>
                <a:lnTo>
                  <a:pt x="1221284" y="0"/>
                </a:lnTo>
                <a:lnTo>
                  <a:pt x="1221284" y="395734"/>
                </a:lnTo>
                <a:lnTo>
                  <a:pt x="0" y="395734"/>
                </a:lnTo>
                <a:lnTo>
                  <a:pt x="0" y="17444"/>
                </a:lnTo>
                <a:arcTo wR="17444" hR="17444" stAng="10800000" swAng="5400000"/>
                <a:close/>
              </a:path>
            </a:pathLst>
          </a:cu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556" y="1619324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Pergunta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22313" y="1532186"/>
            <a:ext cx="1221284" cy="395734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864221" y="1619324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Elemento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43597" y="1532186"/>
            <a:ext cx="5699522" cy="395734"/>
          </a:xfrm>
          <a:custGeom>
            <a:avLst/>
            <a:gdLst/>
            <a:ahLst/>
            <a:cxnLst/>
            <a:rect l="l" t="t" r="r" b="b"/>
            <a:pathLst>
              <a:path w="5699522" h="395734">
                <a:moveTo>
                  <a:pt x="0" y="0"/>
                </a:moveTo>
                <a:lnTo>
                  <a:pt x="5682078" y="0"/>
                </a:lnTo>
                <a:arcTo wR="17444" hR="17444" stAng="16200000" swAng="5400000"/>
                <a:lnTo>
                  <a:pt x="5699522" y="395734"/>
                </a:lnTo>
                <a:lnTo>
                  <a:pt x="0" y="395734"/>
                </a:lnTo>
                <a:lnTo>
                  <a:pt x="0" y="0"/>
                </a:lnTo>
                <a:close/>
              </a:path>
            </a:pathLst>
          </a:cu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085505" y="1619324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Prático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0881" y="1927920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556" y="2015058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64221" y="2015058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quê?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85505" y="2015058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Implantar programa de treinamento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881" y="2323654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556" y="2410792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64221" y="2410792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Por quê?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85505" y="2410792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Reduzir erros operacionais em 30%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0881" y="2719388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556" y="2806526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64221" y="2806526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Onde?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85505" y="2806526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Sede e filiais da empresa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881" y="3115121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556" y="3202260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64221" y="3202260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Quando?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85505" y="3202260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Início em setembro, conclusão em dezembro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0881" y="3510855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556" y="3597994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64221" y="3597994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Quem?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85505" y="3597994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Gerência de RH e líderes de equipe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0881" y="3906589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0556" y="3993728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64221" y="3993728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Como?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85505" y="3993728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Workshops presenciais + plataforma EAD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0881" y="4302323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40556" y="4389462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Much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64221" y="4389462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Quanto?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85505" y="4389462"/>
            <a:ext cx="5875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R$ 25.000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83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Quando Usar Cada Ferramenta?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24868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373535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SWOT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680046"/>
            <a:ext cx="35265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Planejamento estratégico e análise de cenários — início de ciclos, expansões e revisões de posicionamento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324868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373535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Matriz GUT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1680046"/>
            <a:ext cx="352663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Priorização de problemas com múltiplas demandas simultâneas — quando é preciso decidir o que resolver primeiro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44006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692673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Pareto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2999184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Identificar as causas mais críticas de um problema — foco nos 20% que geram 80% dos impactos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644006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692673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Ishikawa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2999184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Investigar a causa-raiz de um problema específico — análise profunda antes de agir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36330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816" y="3784997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BSC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56816" y="4091508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Monitorar a execução da estratégia com indicadores balanceados em 4 perspectivas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736330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1250" y="3784997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5W2H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21250" y="4091508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Estruturar e detalhar planos de ação com responsáveis, prazos e custos definidos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41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Fontes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30623"/>
            <a:ext cx="815176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Matriz GUT: exemplo prático e material em excel para download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Diagrama de Pareto: o que é, como fazer, exemplos e mais!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Diagrama de Ishikawa: o que é, como fazer, 6Ms e exemplos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Balanced Scorecard (BSC): guia completo, exemplo prático e como aplicar com sucesso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5W2H: o que é e como utilizar na prática para planos de ação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5W2H: O Que É, As 7 Perguntas e Exemplos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C977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1109</Words>
  <Application>Microsoft Office PowerPoint</Application>
  <PresentationFormat>Apresentação na tela (16:9)</PresentationFormat>
  <Paragraphs>207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DM Sans SemiBold</vt:lpstr>
      <vt:lpstr>Inter Bold</vt:lpstr>
      <vt:lpstr>Inter Medium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Valmir De Lima Severiano</dc:creator>
  <cp:lastModifiedBy>Valmir De Lima Severiano</cp:lastModifiedBy>
  <cp:revision>1</cp:revision>
  <dcterms:created xsi:type="dcterms:W3CDTF">2026-08-06T18:23:30Z</dcterms:created>
  <dcterms:modified xsi:type="dcterms:W3CDTF">2026-08-06T18:26:37Z</dcterms:modified>
</cp:coreProperties>
</file>