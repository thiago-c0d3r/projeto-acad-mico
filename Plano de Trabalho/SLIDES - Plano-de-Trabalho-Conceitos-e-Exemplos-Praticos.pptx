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1" r:id="rId1"/>
    <p:sldMasterId id="2147483709" r:id="rId2"/>
  </p:sldMasterIdLst>
  <p:notesMasterIdLst>
    <p:notesMasterId r:id="rId23"/>
  </p:notesMasterIdLst>
  <p:sldIdLst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4630400" cy="8229600"/>
  <p:notesSz cx="8229600" cy="14630400"/>
  <p:embeddedFontLst>
    <p:embeddedFont>
      <p:font typeface="Century Gothic" panose="020B0502020202020204" pitchFamily="34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</p:embeddedFont>
    <p:embeddedFont>
      <p:font typeface="Roboto Medium" panose="02000000000000000000" pitchFamily="2" charset="0"/>
      <p:regular r:id="rId29"/>
    </p:embeddedFont>
    <p:embeddedFont>
      <p:font typeface="Tahoma" panose="020B0604030504040204" pitchFamily="34" charset="0"/>
      <p:regular r:id="rId30"/>
      <p:bold r:id="rId31"/>
    </p:embeddedFont>
    <p:embeddedFont>
      <p:font typeface="Wingdings 3" panose="05040102010807070707" pitchFamily="18" charset="2"/>
      <p:regular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600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1737361"/>
            <a:ext cx="10590790" cy="3995497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420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4149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3434080"/>
            <a:ext cx="10590788" cy="229877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5732857"/>
            <a:ext cx="10590790" cy="1032480"/>
          </a:xfrm>
        </p:spPr>
        <p:txBody>
          <a:bodyPr anchor="t"/>
          <a:lstStyle>
            <a:lvl1pPr marL="0" indent="0" algn="l">
              <a:buNone/>
              <a:defRPr sz="24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6211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3975" y="2472690"/>
            <a:ext cx="5275607" cy="503491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5392" y="2467311"/>
            <a:ext cx="5275609" cy="5040294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19997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286000"/>
            <a:ext cx="527560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397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85395" y="2286000"/>
            <a:ext cx="5275607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8539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3288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99497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01901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4" y="1737360"/>
            <a:ext cx="4081277" cy="173736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540" y="1737360"/>
            <a:ext cx="6235196" cy="5486400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4" y="3755137"/>
            <a:ext cx="4081276" cy="3474719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3926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689" y="2225030"/>
            <a:ext cx="6111487" cy="188977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39455" y="1371600"/>
            <a:ext cx="3840480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6101975" cy="164592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7869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5760704"/>
            <a:ext cx="10590788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6" y="822960"/>
            <a:ext cx="10590790" cy="436879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7" y="6440790"/>
            <a:ext cx="10590787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4193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737360"/>
            <a:ext cx="10590791" cy="2377440"/>
          </a:xfrm>
        </p:spPr>
        <p:txBody>
          <a:bodyPr/>
          <a:lstStyle>
            <a:lvl1pPr>
              <a:defRPr sz="57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10590791" cy="283464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47655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762" y="1737360"/>
            <a:ext cx="9599178" cy="2788049"/>
          </a:xfrm>
        </p:spPr>
        <p:txBody>
          <a:bodyPr/>
          <a:lstStyle>
            <a:lvl1pPr>
              <a:defRPr sz="57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316481" y="4525409"/>
            <a:ext cx="8735579" cy="41060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5220788"/>
            <a:ext cx="10590791" cy="201168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77954" y="1165504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6588" y="3136545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380956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749041"/>
            <a:ext cx="10590792" cy="198381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5732857"/>
            <a:ext cx="10590791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70935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9537" y="2377440"/>
            <a:ext cx="353623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782956" y="3200400"/>
            <a:ext cx="3512820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0392" y="2377440"/>
            <a:ext cx="352348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647727" y="3200400"/>
            <a:ext cx="3536153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2377440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8549640" y="3200400"/>
            <a:ext cx="3518536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7834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956" y="5101139"/>
            <a:ext cx="352806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82956" y="2651760"/>
            <a:ext cx="352806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782956" y="5792654"/>
            <a:ext cx="3528060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7251" y="5101139"/>
            <a:ext cx="351663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667249" y="2651760"/>
            <a:ext cx="351663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665627" y="5792653"/>
            <a:ext cx="3521287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5101139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549639" y="2651760"/>
            <a:ext cx="3518536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8549491" y="5792650"/>
            <a:ext cx="3523196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83570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54458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65055" y="516256"/>
            <a:ext cx="2103121" cy="6991350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2956" y="1064897"/>
            <a:ext cx="8907779" cy="644270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45082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11722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78594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8897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986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6554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145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22291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4325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1953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1886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8792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30394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5936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4931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21852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06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50527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8444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97990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139E7-D16B-4540-BCF8-C18F02415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9CBD08-FB09-DA40-99B4-50B1836C2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F2ABB8-95FE-BB4C-92FD-14EF467B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48CDC8-131E-EA4F-A67B-1096F91C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108280-79F3-864A-B9C3-A1F0A0EE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76427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0C3C6-070D-B045-BF69-783F30CEE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A0FBA5-625A-344B-9E8F-91AB01DAB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123016-F796-504C-91A7-79E4766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1D6825-81FA-D44B-8F1E-28CBF7AE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67A551-F682-694A-BFEE-646C5EA12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01657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F2785-109D-AC46-9BE9-B7FB4B125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930678-FD52-FB44-A291-4692B6A79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14F10B-DBBE-924A-BC60-2A05393B7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66A4A7-7EB1-3144-B7AD-FE53BB2D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C25135-55C1-7C4B-94AA-7C4F04D64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99669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6169D-6B81-6B47-B9F5-21BC6A78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BBDC58-B2FB-7847-B0E0-4DB0E441DD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AA18BA-7B74-1141-8601-A4083958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6F8292-2A02-D74D-A20D-94C9317F2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CA28AF-AE12-9040-915F-7EC8798D3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0748FC-42D8-C544-8A0F-40FC183C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6013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E0668-53C2-DC42-BF93-19AC72D9F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14DF04-5B2C-B942-B707-CD3E57D32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FFF379-8B78-9943-976A-F48EF987C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BEA1737-CD7C-F145-8C22-70D6A5798B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82A64D2-AEC7-CF43-89BE-AC209405B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3D70EAA-861F-B345-B584-BA43280A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C927046-D773-1649-B6ED-E7B73427F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6C7C39A-058A-1E4F-8916-051B204BD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87751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E05A2-501E-A242-939A-5ACF5879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35A4D68-FECB-D640-B7AA-2259C4CCA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48F22E7-4A75-8942-9444-BA12193CA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96687C-9AAA-344E-A5DA-1E1F0177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54780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7594ECB-9856-B641-88CB-C38B389C0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CA89FB4-3075-854B-83C8-68EF9683D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C96DE6-5352-9D4C-A64C-E7ACE955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1297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013D3C-937D-734C-B838-B07A1B33A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7DD320-3D7A-8949-9FEF-30BC9EEB0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996994-6B02-3846-8F49-9BACCD2CA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A4DFBD-D192-7049-A5EC-EDFB90E4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A5BA9E-615C-5648-91C0-9A53ED070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3CF783-CC3E-F741-ABCC-68509A79E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7198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3DD70-FE90-1D4E-870A-0D1D7A461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1C5BF9A-D65B-EF46-A877-3D0891126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F2BC9B-ED84-7446-ACF9-B288AA3BD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73422F-6156-0F4D-8249-6E48B61F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3BA86C-9B0D-4E48-B01A-C46D326D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B4943D-4128-CA4B-9E16-C872A673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38717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7C1F4-D9F6-034B-AA9A-D63EECED1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E0E1A8-4837-C54B-9FA3-2D6EA6519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CF5B6D-753E-434F-B585-5FBF66C1D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83CDB2-7AD6-A848-919F-B54FAAC7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A51AA6-8189-7848-ACB2-21C475EB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1646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66D187-B5AB-A34B-8F3D-2A75DEB05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EDD1C37-680F-174D-8A72-1B5C1ECAC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A78EC4-AD63-0F45-A08D-C62005C81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803ED1-5A60-F24A-BC41-B7B6AB1B6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42E234-DB63-764F-BBB0-F1E02CA2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844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3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40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203623"/>
            <a:ext cx="4844414" cy="50259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470817"/>
            <a:ext cx="1826894" cy="2838544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0330814" y="2011680"/>
            <a:ext cx="3383280" cy="33832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9599295" y="1"/>
            <a:ext cx="1924064" cy="13696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0327054" y="7315200"/>
            <a:ext cx="1192481" cy="914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5334" y="543262"/>
            <a:ext cx="11285668" cy="16806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463502"/>
            <a:ext cx="10735849" cy="503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2186767" y="2148842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0741888" y="3870357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989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504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6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2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0072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99D96EF-E3B3-EC40-9442-E9D54BE77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0B0A15-7B96-AB41-8097-0EE864C97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1BDC27-671E-894F-9AC0-13EC3C866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FEC50-D75F-5643-BA4D-7992EE5B3F18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B9DCDA-7AF0-DD4C-B045-620F7779EE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BE3EDC-946A-AC44-A828-BD9919CF6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8693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15DD0AD-1509-494C-8F62-3B578C6A3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818" y="3796301"/>
            <a:ext cx="10072596" cy="709638"/>
          </a:xfrm>
        </p:spPr>
        <p:txBody>
          <a:bodyPr>
            <a:normAutofit/>
          </a:bodyPr>
          <a:lstStyle/>
          <a:p>
            <a:pPr algn="just"/>
            <a:br>
              <a:rPr lang="en-US" sz="2000" dirty="0"/>
            </a:br>
            <a:endParaRPr lang="pt-BR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F6E2F22-4875-1D48-AD6F-58B7D38AF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818" y="3991510"/>
            <a:ext cx="9826016" cy="81237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 </a:t>
            </a:r>
            <a:r>
              <a:rPr lang="en-US" sz="32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guia</a:t>
            </a:r>
            <a:r>
              <a:rPr lang="en-US" sz="3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32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completo</a:t>
            </a:r>
            <a:r>
              <a:rPr lang="en-US" sz="3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</a:t>
            </a:r>
            <a:r>
              <a:rPr lang="en-US" sz="32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elaboração</a:t>
            </a:r>
            <a:r>
              <a:rPr lang="en-US" sz="3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32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planos</a:t>
            </a:r>
            <a:r>
              <a:rPr lang="en-US" sz="3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32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trabalho</a:t>
            </a:r>
            <a:r>
              <a:rPr lang="en-US" sz="3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32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eficientes</a:t>
            </a:r>
            <a:r>
              <a:rPr lang="en-US" sz="3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</a:t>
            </a:r>
            <a:r>
              <a:rPr lang="en-US" sz="32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projetos</a:t>
            </a:r>
            <a:r>
              <a:rPr lang="en-US" sz="3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32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integradores</a:t>
            </a:r>
            <a:r>
              <a:rPr lang="en-US" sz="3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3200" dirty="0"/>
          </a:p>
          <a:p>
            <a:pPr algn="l"/>
            <a:endParaRPr lang="pt-BR" b="1" dirty="0">
              <a:solidFill>
                <a:srgbClr val="FD7708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D17629-0E77-0BBC-BA60-6879B0EC88E1}"/>
              </a:ext>
            </a:extLst>
          </p:cNvPr>
          <p:cNvSpPr txBox="1"/>
          <p:nvPr/>
        </p:nvSpPr>
        <p:spPr>
          <a:xfrm>
            <a:off x="735818" y="2569989"/>
            <a:ext cx="9713000" cy="1325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Plano de </a:t>
            </a:r>
            <a:r>
              <a:rPr lang="en-US" sz="40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Trabalho</a:t>
            </a:r>
            <a:r>
              <a:rPr lang="en-US" sz="4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: </a:t>
            </a:r>
            <a:r>
              <a:rPr lang="en-US" sz="40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Conceitos</a:t>
            </a:r>
            <a:r>
              <a:rPr lang="en-US" sz="4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e </a:t>
            </a:r>
            <a:r>
              <a:rPr lang="en-US" sz="40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Exemplos</a:t>
            </a:r>
            <a:r>
              <a:rPr lang="en-US" sz="4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Práticos</a:t>
            </a:r>
            <a:r>
              <a:rPr lang="en-US" sz="4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8620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9198"/>
            <a:ext cx="570975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Agenda da Apresentação 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176111"/>
            <a:ext cx="4215289" cy="1506736"/>
          </a:xfrm>
          <a:prstGeom prst="roundRect">
            <a:avLst>
              <a:gd name="adj" fmla="val 5532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15008" y="3397329"/>
            <a:ext cx="275332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Conceitos Fundamentais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3826550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Definição, importância e estrutura básica de um plano de trabalho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3176111"/>
            <a:ext cx="4215408" cy="1506736"/>
          </a:xfrm>
          <a:prstGeom prst="roundRect">
            <a:avLst>
              <a:gd name="adj" fmla="val 5532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28655" y="33973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Elementos Essenciais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28655" y="3826550"/>
            <a:ext cx="37729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Identificação, detalhamento, objetivos, metas e indicadores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3176111"/>
            <a:ext cx="4215289" cy="1506736"/>
          </a:xfrm>
          <a:prstGeom prst="roundRect">
            <a:avLst>
              <a:gd name="adj" fmla="val 5532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842421" y="3397329"/>
            <a:ext cx="275141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Planejamento Financeiro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42421" y="3826550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Orçamento, categorias de despesas e controle de custos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4881205"/>
            <a:ext cx="6422112" cy="1189196"/>
          </a:xfrm>
          <a:prstGeom prst="roundRect">
            <a:avLst>
              <a:gd name="adj" fmla="val 7010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15008" y="5102423"/>
            <a:ext cx="269593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Cronograma e Execução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15008" y="5531644"/>
            <a:ext cx="597967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Etapas, atividades, responsáveis, prazos e acompanhamento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260" y="4881205"/>
            <a:ext cx="6422231" cy="1189196"/>
          </a:xfrm>
          <a:prstGeom prst="roundRect">
            <a:avLst>
              <a:gd name="adj" fmla="val 7010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35478" y="51024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Exemplos Práticos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635478" y="5531644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Modelos e casos de aplicação para projetos integradores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6474857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 que é um Plano de Trabalho?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8070" y="1547455"/>
            <a:ext cx="6339007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 plano de trabalho é um documento estruturado que detalha todas as etapas necessárias para a execução de um projeto, estabelecendo: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48070" y="2314099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Objetivos claros e mensuráveis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8070" y="2678668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Atividades a serem realizadas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8070" y="3043237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Responsáveis por cada atividade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8070" y="3407807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Prazos de execução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8070" y="3772376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Recursos necessários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8070" y="4136946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Métodos de avaliação e acompanhamento</a:t>
            </a:r>
            <a:endParaRPr lang="en-US" sz="14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9837"/>
            <a:ext cx="748784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Importância do Plano de Trabalho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66749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3108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Orientação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3740110"/>
            <a:ext cx="639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Fornece diretrizes claras para todos os envolvidos, mantendo o foco nos objetivos estabelecidos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144" y="2566749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9144" y="33108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Organização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7439144" y="3740110"/>
            <a:ext cx="639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Estrutura as atividades de forma lógica e sequencial, facilitando a gestão do projeto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871323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6154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Controle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793790" y="6044684"/>
            <a:ext cx="639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 monitorar o progresso e identificar desvios em relação ao planejado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9144" y="4871323"/>
            <a:ext cx="496133" cy="4961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9144" y="56154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Transparência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7439144" y="6044684"/>
            <a:ext cx="639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Estabelece compromissos claros entre os participantes e facilita a prestação de contas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0565" y="488513"/>
            <a:ext cx="7557492" cy="555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Estrutura Básica do Plano de Trabalho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710565" y="1398865"/>
            <a:ext cx="177641" cy="1065848"/>
          </a:xfrm>
          <a:prstGeom prst="roundRect">
            <a:avLst>
              <a:gd name="adj" fmla="val 42001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65848" y="1576507"/>
            <a:ext cx="2220516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Identificação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65848" y="1960602"/>
            <a:ext cx="12853988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Dados básicos do projeto e equipe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77027" y="2597944"/>
            <a:ext cx="177641" cy="1065848"/>
          </a:xfrm>
          <a:prstGeom prst="roundRect">
            <a:avLst>
              <a:gd name="adj" fmla="val 42001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32309" y="2775585"/>
            <a:ext cx="2220516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Detalhamento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32309" y="3159681"/>
            <a:ext cx="1258752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Resumo, justificativa e objetivos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243489" y="3797022"/>
            <a:ext cx="177641" cy="1065848"/>
          </a:xfrm>
          <a:prstGeom prst="roundRect">
            <a:avLst>
              <a:gd name="adj" fmla="val 42001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598771" y="3974663"/>
            <a:ext cx="2220516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Planejamento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98771" y="4358759"/>
            <a:ext cx="12321064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Metas, indicadores e metodologia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509951" y="4996101"/>
            <a:ext cx="177641" cy="1065848"/>
          </a:xfrm>
          <a:prstGeom prst="roundRect">
            <a:avLst>
              <a:gd name="adj" fmla="val 42001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865233" y="5173742"/>
            <a:ext cx="2220516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Recursos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865233" y="5557838"/>
            <a:ext cx="12054602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Orçamento detalhado por categorias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43489" y="6195179"/>
            <a:ext cx="177641" cy="1065848"/>
          </a:xfrm>
          <a:prstGeom prst="roundRect">
            <a:avLst>
              <a:gd name="adj" fmla="val 42001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598771" y="6372820"/>
            <a:ext cx="2220516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Cronograma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98771" y="6756916"/>
            <a:ext cx="12321064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Etapas, atividades, responsáveis e prazos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0565" y="7460813"/>
            <a:ext cx="13209270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 estrutura pode ser adaptada conforme as necessidades específicas de cada projeto integrador.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7975"/>
            <a:ext cx="52956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Identificação do Projeto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914888"/>
            <a:ext cx="4215289" cy="2875955"/>
          </a:xfrm>
          <a:prstGeom prst="roundRect">
            <a:avLst>
              <a:gd name="adj" fmla="val 2898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6650" y="2937748"/>
            <a:ext cx="4169569" cy="595313"/>
          </a:xfrm>
          <a:prstGeom prst="roundRect">
            <a:avLst>
              <a:gd name="adj" fmla="val 9395"/>
            </a:avLst>
          </a:prstGeom>
          <a:solidFill>
            <a:srgbClr val="18256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52606" y="304550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15008" y="37314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Dados do Projeto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15008" y="4160639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Curso relacionado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15008" y="4547592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Título do projeto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15008" y="4934545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Período de execução (início e término)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07437" y="2914888"/>
            <a:ext cx="4215408" cy="2875955"/>
          </a:xfrm>
          <a:prstGeom prst="roundRect">
            <a:avLst>
              <a:gd name="adj" fmla="val 2898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230297" y="2937748"/>
            <a:ext cx="4169688" cy="595313"/>
          </a:xfrm>
          <a:prstGeom prst="roundRect">
            <a:avLst>
              <a:gd name="adj" fmla="val 9395"/>
            </a:avLst>
          </a:prstGeom>
          <a:solidFill>
            <a:srgbClr val="18256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166253" y="304550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428655" y="37314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Orientação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428655" y="4160639"/>
            <a:ext cx="37729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Nome completo do professor orientador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428655" y="4865132"/>
            <a:ext cx="37729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Titulação (Ex: Msc., Dr., etc.)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28655" y="5252085"/>
            <a:ext cx="37729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Informações de contato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621203" y="2914888"/>
            <a:ext cx="4215289" cy="2875955"/>
          </a:xfrm>
          <a:prstGeom prst="roundRect">
            <a:avLst>
              <a:gd name="adj" fmla="val 2898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644063" y="2937748"/>
            <a:ext cx="4169569" cy="595313"/>
          </a:xfrm>
          <a:prstGeom prst="roundRect">
            <a:avLst>
              <a:gd name="adj" fmla="val 9395"/>
            </a:avLst>
          </a:prstGeom>
          <a:solidFill>
            <a:srgbClr val="18256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1580019" y="304550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842421" y="37314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Equipe Discente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842421" y="4160639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Nome completo de cada integrante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842421" y="4547592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E-mail para contato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842421" y="4934545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Função no projeto (opcional)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93790" y="601408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identificação clara facilita a comunicação e o acompanhamento institucional do projeto.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60" y="436483"/>
            <a:ext cx="4409599" cy="49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Detalhamento do Projeto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34960" y="1329214"/>
            <a:ext cx="198429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Resumo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34960" y="1735931"/>
            <a:ext cx="6486644" cy="507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Síntese concisa do projeto, apresentando sua proposta central, metodologia e resultados esperados em aproximadamente 200-300 palavras.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60" y="2402324"/>
            <a:ext cx="198429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Justificativa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34960" y="2809042"/>
            <a:ext cx="6486644" cy="507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Fundamentação da relevância do projeto, explicando sua importância acadêmica, social, econômica ou tecnológica e os benefícios esperados.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416" y="1348978"/>
            <a:ext cx="6486644" cy="64866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16416" y="8014097"/>
            <a:ext cx="6486644" cy="507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detalhamento deve ser claro e objetivo, fornecendo uma visão geral do projeto e sua contribuição para a área de conhecimento.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566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Objetivos do Projeto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424" y="2492573"/>
            <a:ext cx="3228022" cy="11434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14894" y="3031569"/>
            <a:ext cx="27908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866805" y="2690932"/>
            <a:ext cx="244887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Objetivo Geral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866805" y="3120152"/>
            <a:ext cx="24488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Propósito central do projeto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717977" y="3651290"/>
            <a:ext cx="8069104" cy="11430"/>
          </a:xfrm>
          <a:prstGeom prst="roundRect">
            <a:avLst>
              <a:gd name="adj" fmla="val 729302"/>
            </a:avLst>
          </a:prstGeom>
          <a:solidFill>
            <a:srgbClr val="313E8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4" y="3685580"/>
            <a:ext cx="6456164" cy="11434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14775" y="4082891"/>
            <a:ext cx="27908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7480816" y="38839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Objetivos Específicos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7480816" y="4313158"/>
            <a:ext cx="485441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Desdobramentos do objetivo geral em ações concretas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93790" y="505229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objetivo geral expressa o resultado final esperado, enquanto os objetivos específicos detalham as etapas necessárias para alcançá-lo. Todos devem ser claros, mensuráveis e alinhados entre si.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93790" y="5910620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48" y="6205895"/>
            <a:ext cx="248007" cy="19835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38513" y="6158508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Utilize verbos no infinitivo para iniciar cada objetivo (Ex: Desenvolver, Analisar, Implementar, Avaliar).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4676061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Exemplo de Objetivos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8070" y="1566148"/>
            <a:ext cx="2338030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Objetivo Geral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8070" y="2045375"/>
            <a:ext cx="6339007" cy="89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Desenvolver um sistema de monitoramento de consumo de energia para residências que permita a redução de custos e o uso mais eficiente dos recursos energéticos.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8070" y="3129915"/>
            <a:ext cx="2338030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Objetivos Específicos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8070" y="3609142"/>
            <a:ext cx="6339007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Analisar o padrão de consumo energético em diferentes tipos de residências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8070" y="4272915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Projetar um dispositivo de baixo custo para medição em tempo real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8070" y="4637484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 um aplicativo para visualização dos dados coletados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8070" y="5002054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Avaliar a eficácia do sistema na redução do consumo energético</a:t>
            </a:r>
            <a:endParaRPr lang="en-US" sz="14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031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Metas e Indicadores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607231"/>
            <a:ext cx="6422231" cy="3491151"/>
          </a:xfrm>
          <a:prstGeom prst="roundRect">
            <a:avLst>
              <a:gd name="adj" fmla="val 3143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0930" y="2607231"/>
            <a:ext cx="91440" cy="3491151"/>
          </a:xfrm>
          <a:prstGeom prst="roundRect">
            <a:avLst>
              <a:gd name="adj" fmla="val 91163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83588" y="28284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Metas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257669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São os resultados quantificáveis que se pretende alcançar em um determinado período. Devem ser: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83588" y="4011811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Específicas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83588" y="4398764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Mensuráveis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83588" y="4785717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Atingíveis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83588" y="5172670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Relevantes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83588" y="5559623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Temporais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4379" y="2607231"/>
            <a:ext cx="6422231" cy="3491151"/>
          </a:xfrm>
          <a:prstGeom prst="roundRect">
            <a:avLst>
              <a:gd name="adj" fmla="val 3143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391519" y="2607231"/>
            <a:ext cx="91440" cy="3491151"/>
          </a:xfrm>
          <a:prstGeom prst="roundRect">
            <a:avLst>
              <a:gd name="adj" fmla="val 91163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04177" y="28284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Indicadores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704177" y="3257669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São parâmetros que permitem verificar se as metas estão sendo alcançadas. Devem ser: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04177" y="4011811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Objetivos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704177" y="4398764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Confiáveis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04177" y="4785717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Acessíveis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704177" y="5172670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Comparáveis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93790" y="632162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definição clara de metas e indicadores facilita o acompanhamento do projeto e a avaliação de seu sucesso.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10214"/>
            <a:ext cx="720363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Exemplo de Metas e Indicadores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727127"/>
            <a:ext cx="13042821" cy="3251478"/>
          </a:xfrm>
          <a:prstGeom prst="roundRect">
            <a:avLst>
              <a:gd name="adj" fmla="val 256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01410" y="2734747"/>
            <a:ext cx="1302627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01197" y="2861429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346621" y="2861429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Indicador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88235" y="2861429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 de Verificação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1410" y="3305651"/>
            <a:ext cx="13026271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01197" y="3432334"/>
            <a:ext cx="394108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Reduzir o consumo de energia em 15% nas residências monitoradas em 6 meses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346621" y="3432334"/>
            <a:ext cx="39372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Percentual de redução no consumo de energia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88235" y="3432334"/>
            <a:ext cx="394108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Comparação das faturas de energia antes e após a implementação do sistema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1410" y="4194096"/>
            <a:ext cx="13026271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01197" y="4320778"/>
            <a:ext cx="394108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Desenvolver um dispositivo com custo inferior a R$ 200,00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346621" y="4320778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 unitário do dispositivo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688235" y="4320778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Planilha de custos de produção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5082540"/>
            <a:ext cx="13026271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001197" y="5209223"/>
            <a:ext cx="394108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Atingir 85% de satisfação dos usuários com o aplicativo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346621" y="5209223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Índice de satisfação dos usuários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688235" y="5209223"/>
            <a:ext cx="394108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Pesquisa de satisfação aplicada aos participantes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93790" y="620184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meta deve estar associada a pelo menos um indicador que permita sua mensuração objetiva.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8007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Orçamento do Projeto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397806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orçamento detalha todos os recursos financeiros necessários para a execução do projeto, organizados por categorias de despesas.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425612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 fundamental que seja realista, considerando todos os custos envolvidos e possíveis contingências.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5114449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apresentação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clara do orçamento facilita a aprovação do projeto e o controle financeiro durante sua execução.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856"/>
            <a:ext cx="53693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Categorias de Despesas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2254091" y="28753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Equipamentos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304580"/>
            <a:ext cx="3941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Computadores, sensores, ferramentas, máquinas e outros itens de capital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340769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6766" y="3307854"/>
            <a:ext cx="296942" cy="3711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95284" y="28753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Comunicação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895284" y="3304580"/>
            <a:ext cx="3941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Internet, telefonia, correios e outros meios de comunicação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340769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6335" y="3307854"/>
            <a:ext cx="296942" cy="3711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895284" y="53067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Serviços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9895284" y="5735955"/>
            <a:ext cx="3941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Consultorias, manutenção, desenvolvimento, hospedagem e outros serviços terceirizados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340769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6335" y="5567422"/>
            <a:ext cx="296942" cy="37111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254091" y="53067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Outros Itens</a:t>
            </a:r>
            <a:endParaRPr lang="en-US" sz="1950" dirty="0"/>
          </a:p>
        </p:txBody>
      </p:sp>
      <p:sp>
        <p:nvSpPr>
          <p:cNvPr id="16" name="Text 8"/>
          <p:cNvSpPr/>
          <p:nvPr/>
        </p:nvSpPr>
        <p:spPr>
          <a:xfrm>
            <a:off x="793790" y="5735955"/>
            <a:ext cx="3941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Material de consumo, deslocamentos, alimentação e despesas diversas</a:t>
            </a:r>
            <a:endParaRPr lang="en-US" sz="15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340769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6766" y="5567422"/>
            <a:ext cx="296942" cy="3711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6791"/>
            <a:ext cx="515564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Exemplo de Orçamento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128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Equipamentos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2646283"/>
            <a:ext cx="6279356" cy="3822383"/>
          </a:xfrm>
          <a:prstGeom prst="roundRect">
            <a:avLst>
              <a:gd name="adj" fmla="val 218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01410" y="2653903"/>
            <a:ext cx="6264116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99768" y="2780586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Especificação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135636" y="2780586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Valor (R$)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1410" y="3224808"/>
            <a:ext cx="6264116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99768" y="3351490"/>
            <a:ext cx="273153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Sensores de energia (10 unidades)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135636" y="3351490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1.500,00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1410" y="4113252"/>
            <a:ext cx="6264116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99768" y="4239935"/>
            <a:ext cx="273153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Microcontroladores (10 unidades)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135636" y="4239935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800,00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1410" y="5001697"/>
            <a:ext cx="6264116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99768" y="5128379"/>
            <a:ext cx="273153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 para desenvolvimento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135636" y="5128379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3.500,00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1410" y="5890141"/>
            <a:ext cx="6264116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99768" y="6016823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Valor total dos Equipamentos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135636" y="6016823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5.800,00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64874" y="21128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Serviços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7564874" y="2646283"/>
            <a:ext cx="6279356" cy="3187303"/>
          </a:xfrm>
          <a:prstGeom prst="roundRect">
            <a:avLst>
              <a:gd name="adj" fmla="val 261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572494" y="2653903"/>
            <a:ext cx="6264116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770852" y="2780586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Especificação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906720" y="2780586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Valor (R$)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572494" y="3224808"/>
            <a:ext cx="6264116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770852" y="3351490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Desenvolvimento de aplicativo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0906720" y="3351490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2.000,00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7572494" y="3795713"/>
            <a:ext cx="6264116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7770852" y="3922395"/>
            <a:ext cx="273153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Hospedagem em nuvem (12 meses)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0906720" y="3922395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1.200,00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7572494" y="4684157"/>
            <a:ext cx="6264116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770852" y="4810839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de interface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0906720" y="4810839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800,00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7572494" y="5255062"/>
            <a:ext cx="6264116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7770852" y="5381744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Valor total - Serviços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10906720" y="5381744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4.000,00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793790" y="691515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VALOR TOTAL DO ORÇAMENTO: R$ 9.800,00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64876"/>
            <a:ext cx="567261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Cronograma de Execução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782610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cronograma apresenta a distribuição temporal das atividades do projeto, especificando: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3640931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Etapas principais do projeto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402788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Atividades específicas de cada etapa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441483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Responsáveis por cada atividade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4801791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 de início e término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518874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 de execução (a iniciar, em andamento, concluída)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93790" y="5729526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 cronograma bem elaborado é essencial para o gerenciamento eficiente do tempo e recursos do projeto.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7162"/>
            <a:ext cx="544877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Exemplo de Cronograma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124075"/>
            <a:ext cx="13042821" cy="4457462"/>
          </a:xfrm>
          <a:prstGeom prst="roundRect">
            <a:avLst>
              <a:gd name="adj" fmla="val 187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01410" y="2131695"/>
            <a:ext cx="1303139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00363" y="2258378"/>
            <a:ext cx="146101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Nº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865715" y="2258378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Etapa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727257" y="2258378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Atividade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588800" y="2258378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Responsável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50342" y="2258378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Início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311884" y="2258378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Término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2173426" y="2258378"/>
            <a:ext cx="146101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1410" y="2702600"/>
            <a:ext cx="13031391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00363" y="2829282"/>
            <a:ext cx="146101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865715" y="2829282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Planejamento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727257" y="2829282"/>
            <a:ext cx="145720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Levantamento de requisitos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588800" y="2829282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 Silva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50342" y="2829282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01/09/2025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311884" y="2829282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15/09/2025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2173426" y="2829282"/>
            <a:ext cx="146101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iniciar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1410" y="3591044"/>
            <a:ext cx="13031391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000363" y="3717727"/>
            <a:ext cx="146101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865715" y="3717727"/>
            <a:ext cx="145720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Desenvolvimento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727257" y="3717727"/>
            <a:ext cx="145720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Prototipagem dos sensores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588800" y="3717727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Carlos Oliveira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450342" y="3717727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16/09/2025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0311884" y="3717727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30/09/2025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2173426" y="3717727"/>
            <a:ext cx="146101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iniciar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01410" y="4479488"/>
            <a:ext cx="13031391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000363" y="4606171"/>
            <a:ext cx="146101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2865715" y="4606171"/>
            <a:ext cx="145720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Desenvolvimento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4727257" y="4606171"/>
            <a:ext cx="145720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Programação do aplicativo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6588800" y="4606171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Mariana Santos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450342" y="4606171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01/10/2025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10311884" y="4606171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31/10/2025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12173426" y="4606171"/>
            <a:ext cx="146101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iniciar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801410" y="5367933"/>
            <a:ext cx="13031391" cy="12059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1000363" y="5494615"/>
            <a:ext cx="146101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2865715" y="5494615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Testes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4727257" y="5494615"/>
            <a:ext cx="145720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Instalação em residências piloto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6588800" y="5494615"/>
            <a:ext cx="145720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Equipe completa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8450342" y="5494615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01/11/2025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10311884" y="5494615"/>
            <a:ext cx="145720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15/11/2025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12173426" y="5494615"/>
            <a:ext cx="146101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iniciar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793790" y="680477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cronograma deve ser atualizado regularmente para refletir o progresso real do projeto.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75403"/>
            <a:ext cx="974133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Dicas para Elaboração do Plano de Trabalho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29231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8204" y="332952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438632" y="33605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Seja realista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38632" y="3789759"/>
            <a:ext cx="575250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Estabeleça objetivos, metas e prazos alcançáveis, considerando os recursos disponíveis e possíveis imprevistos.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39144" y="329231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513558" y="332952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083987" y="33605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Seja específico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083987" y="3789759"/>
            <a:ext cx="575262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Evite termos vagos e generalizações. Detalhe as atividades, responsabilidades e resultados esperados.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821674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68204" y="485888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438632" y="48898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Seja flexível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38632" y="5319117"/>
            <a:ext cx="575250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Preveja a possibilidade de ajustes no plano durante a execução, sem comprometer os objetivos principais.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39144" y="4821674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513558" y="485888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083987" y="48898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Seja colaborativo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083987" y="5319117"/>
            <a:ext cx="575262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Envolva todos os membros da equipe na elaboração do plano, garantindo comprometimento e alinhamento.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987" y="455057"/>
            <a:ext cx="4137422" cy="51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Erros Comuns a Evitar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" y="1406485"/>
            <a:ext cx="6451402" cy="6451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24631" y="1369338"/>
            <a:ext cx="6451402" cy="26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Objetivos vagos ou inalcançáveis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524631" y="1691997"/>
            <a:ext cx="6451402" cy="26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Orçamento subestimado ou superestimado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524631" y="2014657"/>
            <a:ext cx="6451402" cy="26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Cronograma irrealista ou muito apertado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524631" y="2337316"/>
            <a:ext cx="6451402" cy="26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Falta de indicadores mensuráveis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24631" y="2659975"/>
            <a:ext cx="6451402" cy="26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Ausência de responsáveis claramente definidos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24631" y="2982635"/>
            <a:ext cx="6451402" cy="26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Detalhamento insuficiente das atividades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24631" y="3305294"/>
            <a:ext cx="6451402" cy="26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Negligência de riscos e contingências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1987" y="8230076"/>
            <a:ext cx="13306425" cy="26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identificação antecipada desses erros pode evitar problemas significativos durante a execução do projeto.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8236"/>
            <a:ext cx="620899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Modelo de Documento Final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45149"/>
            <a:ext cx="6521410" cy="793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148" y="31372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Capa e Identificação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92148" y="3566517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Título, equipe, orientador, período de execução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145149"/>
            <a:ext cx="6521410" cy="793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13558" y="31372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Detalhamento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7513558" y="3566517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Resumo, justificativa, objetivos, metas e indicadores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082415"/>
            <a:ext cx="6521410" cy="7937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92148" y="50745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Recursos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92148" y="5503783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Orçamento detalhado por categorias de despesas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082415"/>
            <a:ext cx="6521410" cy="7937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13558" y="50745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Cronograma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7513558" y="5503783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Etapas, atividades, responsáveis, prazos e status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793790" y="624292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documento final deve ser assinado por todos os membros da equipe e pelo professor orientador, com data e local.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793790" y="678370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Exemplo: "Gama-DF, [dia] de agosto de 2025."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4676061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Conclusão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8070" y="1547455"/>
            <a:ext cx="6339007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 plano de trabalho bem elaborado é fundamental para o sucesso de qualquer projeto integrador, pois: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48070" y="2314099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Orienta a equipe durante todo o processo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8070" y="2678668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 a comunicação entre os envolvidos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8070" y="3043237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 o acompanhamento objetivo do progresso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8070" y="3407807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Aumenta as chances de alcançar os resultados esperados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8070" y="3772376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 como documento de referência para avaliação final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8070" y="4239816"/>
            <a:ext cx="6339007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Dedique tempo e atenção à elaboração do seu plano de trabalho, pois ele será o guia para todas as etapas do projeto.</a:t>
            </a:r>
            <a:endParaRPr lang="en-US" sz="14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PadrãoProfessor" id="{B08E511D-9B6D-3346-95F5-EF66AE4AE0E1}" vid="{03DA43B4-BE38-0948-A80C-B4AB85C1AB1C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1307</Words>
  <Application>Microsoft Office PowerPoint</Application>
  <PresentationFormat>Personalizar</PresentationFormat>
  <Paragraphs>254</Paragraphs>
  <Slides>20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20</vt:i4>
      </vt:variant>
    </vt:vector>
  </HeadingPairs>
  <TitlesOfParts>
    <vt:vector size="30" baseType="lpstr">
      <vt:lpstr>Calibri Light</vt:lpstr>
      <vt:lpstr>Wingdings 3</vt:lpstr>
      <vt:lpstr>Arial</vt:lpstr>
      <vt:lpstr>Tahoma</vt:lpstr>
      <vt:lpstr>Roboto</vt:lpstr>
      <vt:lpstr>Calibri</vt:lpstr>
      <vt:lpstr>Century Gothic</vt:lpstr>
      <vt:lpstr>Roboto Medium</vt:lpstr>
      <vt:lpstr>Íon</vt:lpstr>
      <vt:lpstr>Tema do Office</vt:lpstr>
      <vt:lpstr>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Valmir De Lima Severiano</dc:creator>
  <cp:lastModifiedBy>Valmir De Lima Severiano</cp:lastModifiedBy>
  <cp:revision>3</cp:revision>
  <dcterms:created xsi:type="dcterms:W3CDTF">2025-08-01T14:52:28Z</dcterms:created>
  <dcterms:modified xsi:type="dcterms:W3CDTF">2025-08-01T17:34:06Z</dcterms:modified>
</cp:coreProperties>
</file>